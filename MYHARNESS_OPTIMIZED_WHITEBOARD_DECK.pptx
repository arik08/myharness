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4389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C1C"/>
                </a:solidFill>
                <a:latin typeface="Malgun Gothic"/>
              </a:rPr>
              <a:t>MyHarness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5E5E"/>
                </a:solidFill>
                <a:latin typeface="Malgun Gothic"/>
              </a:rPr>
              <a:t>AI를 채팅창에서 업무 현장으로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845820" y="2766060"/>
            <a:ext cx="1645920" cy="1024128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1645920" cy="1024128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87552" y="2999232"/>
            <a:ext cx="1298448" cy="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3218688"/>
            <a:ext cx="1069848" cy="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3401568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C1C1C"/>
                </a:solidFill>
                <a:latin typeface="Malgun Gothic"/>
              </a:rPr>
              <a:t>AI 답변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E5E5E"/>
                </a:solidFill>
                <a:latin typeface="Malgun Gothic"/>
              </a:rPr>
              <a:t>답변 생성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3246120"/>
            <a:ext cx="1417320" cy="0"/>
          </a:xfrm>
          <a:prstGeom prst="line">
            <a:avLst/>
          </a:prstGeom>
          <a:ln w="228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366260" y="2354579"/>
            <a:ext cx="3017520" cy="1828800"/>
          </a:xfrm>
          <a:prstGeom prst="rect">
            <a:avLst/>
          </a:prstGeom>
          <a:solidFill>
            <a:srgbClr val="E5F4EE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331720"/>
            <a:ext cx="3017520" cy="1828800"/>
          </a:xfrm>
          <a:prstGeom prst="rect">
            <a:avLst/>
          </a:prstGeom>
          <a:solidFill>
            <a:srgbClr val="E5F4EE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5420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Malgun Gothic"/>
              </a:rPr>
              <a:t>Harness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154680"/>
            <a:ext cx="658368" cy="292608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3204972"/>
            <a:ext cx="51206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C1C1C"/>
                </a:solidFill>
                <a:latin typeface="Malgun Gothic"/>
              </a:rPr>
              <a:t>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68112" y="3154680"/>
            <a:ext cx="658368" cy="292608"/>
          </a:xfrm>
          <a:prstGeom prst="roundRect">
            <a:avLst/>
          </a:prstGeom>
          <a:solidFill>
            <a:srgbClr val="FFF6D6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3204972"/>
            <a:ext cx="51206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C1C1C"/>
                </a:solidFill>
                <a:latin typeface="Malgun Gothic"/>
              </a:rPr>
              <a:t>Skill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3154680"/>
            <a:ext cx="658368" cy="292608"/>
          </a:xfrm>
          <a:prstGeom prst="roundRect">
            <a:avLst/>
          </a:prstGeom>
          <a:solidFill>
            <a:srgbClr val="F0EBF9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3204972"/>
            <a:ext cx="51206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C1C1C"/>
                </a:solidFill>
                <a:latin typeface="Malgun Gothic"/>
              </a:rPr>
              <a:t>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365760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E5E5E"/>
                </a:solidFill>
                <a:latin typeface="Malgun Gothic"/>
              </a:rPr>
              <a:t>Agentic Workflow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3246120"/>
            <a:ext cx="1143000" cy="0"/>
          </a:xfrm>
          <a:prstGeom prst="line">
            <a:avLst/>
          </a:prstGeom>
          <a:ln w="228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075420" y="2473452"/>
            <a:ext cx="749808" cy="932688"/>
          </a:xfrm>
          <a:prstGeom prst="rect">
            <a:avLst/>
          </a:prstGeom>
          <a:solidFill>
            <a:srgbClr val="FFF6D6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450592"/>
            <a:ext cx="749808" cy="932688"/>
          </a:xfrm>
          <a:prstGeom prst="rect">
            <a:avLst/>
          </a:prstGeom>
          <a:solidFill>
            <a:srgbClr val="FFF6D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198864" y="2743200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98864" y="2926080"/>
            <a:ext cx="420624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25712" y="3145536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보고서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35540" y="2692908"/>
            <a:ext cx="749808" cy="932688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12680" y="2670048"/>
            <a:ext cx="749808" cy="932688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0158984" y="2962656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158984" y="3145536"/>
            <a:ext cx="420623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085832" y="3364991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데이터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49940" y="2354579"/>
            <a:ext cx="749808" cy="932688"/>
          </a:xfrm>
          <a:prstGeom prst="rect">
            <a:avLst/>
          </a:prstGeom>
          <a:solidFill>
            <a:srgbClr val="F8E8EC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27080" y="2331720"/>
            <a:ext cx="749808" cy="932688"/>
          </a:xfrm>
          <a:prstGeom prst="rect">
            <a:avLst/>
          </a:prstGeom>
          <a:solidFill>
            <a:srgbClr val="F8E8EC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1073384" y="2624327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073384" y="2807208"/>
            <a:ext cx="420623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000232" y="3026663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Preview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8862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E5E5E"/>
                </a:solidFill>
                <a:latin typeface="Malgun Gothic"/>
              </a:rPr>
              <a:t>업무 수행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답변을 받는 AI에서, 업무 결과물을 만드는 AI로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이미 P-GPT가 있는데, 왜 또 MyHarness인가?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1851660"/>
            <a:ext cx="2194560" cy="1325880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2194560" cy="1325880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41832" y="2084832"/>
            <a:ext cx="1847088" cy="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1832" y="2304288"/>
            <a:ext cx="1618488" cy="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248716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C1C1C"/>
                </a:solidFill>
                <a:latin typeface="Malgun Gothic"/>
              </a:rPr>
              <a:t>AI 답변</a:t>
            </a:r>
          </a:p>
        </p:txBody>
      </p:sp>
      <p:sp>
        <p:nvSpPr>
          <p:cNvPr id="10" name="Oval 9"/>
          <p:cNvSpPr/>
          <p:nvPr/>
        </p:nvSpPr>
        <p:spPr>
          <a:xfrm>
            <a:off x="1719072" y="3456432"/>
            <a:ext cx="25603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847088" y="3712463"/>
            <a:ext cx="0" cy="502920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536192" y="3867911"/>
            <a:ext cx="310896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47088" y="3867911"/>
            <a:ext cx="310896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609344" y="4215383"/>
            <a:ext cx="237744" cy="320041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47088" y="4215383"/>
            <a:ext cx="237744" cy="320041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75688" y="34747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하...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57200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사용자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Malgun Gothic"/>
              </a:rPr>
              <a:t>답변은 받았는데,
이제 이걸 업무 결과물로
누가 만들지?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4860" y="1988819"/>
            <a:ext cx="749808" cy="932688"/>
          </a:xfrm>
          <a:prstGeom prst="rect">
            <a:avLst/>
          </a:prstGeom>
          <a:solidFill>
            <a:srgbClr val="FFF6D6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965960"/>
            <a:ext cx="749808" cy="932688"/>
          </a:xfrm>
          <a:prstGeom prst="rect">
            <a:avLst/>
          </a:prstGeom>
          <a:solidFill>
            <a:srgbClr val="FFF6D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718304" y="2258568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18304" y="2441448"/>
            <a:ext cx="420624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45152" y="266090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자료 찾기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83580" y="1988819"/>
            <a:ext cx="749808" cy="932688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1965960"/>
            <a:ext cx="749808" cy="932688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907024" y="2258568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07024" y="2441448"/>
            <a:ext cx="420624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33872" y="266090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문서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72300" y="1988819"/>
            <a:ext cx="749808" cy="932688"/>
          </a:xfrm>
          <a:prstGeom prst="rect">
            <a:avLst/>
          </a:prstGeom>
          <a:solidFill>
            <a:srgbClr val="F8E8EC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1965960"/>
            <a:ext cx="749808" cy="932688"/>
          </a:xfrm>
          <a:prstGeom prst="rect">
            <a:avLst/>
          </a:prstGeom>
          <a:solidFill>
            <a:srgbClr val="F8E8EC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095744" y="2258568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95744" y="2441448"/>
            <a:ext cx="420623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22592" y="266090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파일 생성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4860" y="3314699"/>
            <a:ext cx="749808" cy="932688"/>
          </a:xfrm>
          <a:prstGeom prst="rect">
            <a:avLst/>
          </a:prstGeom>
          <a:solidFill>
            <a:srgbClr val="E5F4EE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3291839"/>
            <a:ext cx="749808" cy="932688"/>
          </a:xfrm>
          <a:prstGeom prst="rect">
            <a:avLst/>
          </a:prstGeom>
          <a:solidFill>
            <a:srgbClr val="E5F4EE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718304" y="3584447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18304" y="3767327"/>
            <a:ext cx="420624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645152" y="3986783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화면 검토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83580" y="3314699"/>
            <a:ext cx="749808" cy="932688"/>
          </a:xfrm>
          <a:prstGeom prst="rect">
            <a:avLst/>
          </a:prstGeom>
          <a:solidFill>
            <a:srgbClr val="FCEEDE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3291839"/>
            <a:ext cx="749808" cy="932688"/>
          </a:xfrm>
          <a:prstGeom prst="rect">
            <a:avLst/>
          </a:prstGeom>
          <a:solidFill>
            <a:srgbClr val="FCEEDE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5907024" y="3584447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07024" y="3767327"/>
            <a:ext cx="420624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33872" y="3986783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수정·공유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1828800"/>
            <a:ext cx="301752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C1C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148840"/>
            <a:ext cx="246888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1C1C"/>
                </a:solidFill>
                <a:latin typeface="Malgun Gothic"/>
              </a:defRPr>
            </a:pPr>
            <a:r>
              <a:t>질문은 'AI가 있느냐'가 아닙니다.</a:t>
            </a:r>
          </a:p>
          <a:p>
            <a:pPr>
              <a:spcAft>
                <a:spcPts val="500"/>
              </a:spcAft>
              <a:defRPr sz="1800">
                <a:solidFill>
                  <a:srgbClr val="1C1C1C"/>
                </a:solidFill>
                <a:latin typeface="Malgun Gothic"/>
              </a:defRPr>
            </a:pPr>
            <a:r>
              <a:t>AI가 업무 흐름 안으로 들어와 있느냐입니다.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P-GPT는 출발점, MyHarness는 업무 실행으로 연결하는 환경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LIMIT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채팅창 안의 AI는 똑똑하지만, 손발이 짧다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" y="1760219"/>
            <a:ext cx="2834640" cy="2560320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2834640" cy="2560320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933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Malgun Gothic"/>
              </a:rPr>
              <a:t>채팅형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60320"/>
            <a:ext cx="19202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질문 답변</a:t>
            </a:r>
          </a:p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요약</a:t>
            </a:r>
          </a:p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초안 작성</a:t>
            </a:r>
          </a:p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아이디어 제안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2926080"/>
            <a:ext cx="1143000" cy="0"/>
          </a:xfrm>
          <a:prstGeom prst="line">
            <a:avLst/>
          </a:prstGeom>
          <a:ln w="228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60520" y="2606040"/>
            <a:ext cx="777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E5E5E"/>
                </a:solidFill>
                <a:latin typeface="Malgun Gothic"/>
              </a:rPr>
              <a:t>그러나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828800"/>
            <a:ext cx="43891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1C1C"/>
                </a:solidFill>
                <a:latin typeface="Malgun Gothic"/>
              </a:defRPr>
            </a:pPr>
            <a:r>
              <a:t>대화창 안에 머무름</a:t>
            </a:r>
          </a:p>
          <a:p>
            <a:pPr>
              <a:spcAft>
                <a:spcPts val="500"/>
              </a:spcAft>
              <a:defRPr sz="1600">
                <a:solidFill>
                  <a:srgbClr val="1C1C1C"/>
                </a:solidFill>
                <a:latin typeface="Malgun Gothic"/>
              </a:defRPr>
            </a:pPr>
            <a:r>
              <a:t>HTML도 코드 원문</a:t>
            </a:r>
          </a:p>
          <a:p>
            <a:pPr>
              <a:spcAft>
                <a:spcPts val="500"/>
              </a:spcAft>
              <a:defRPr sz="1600">
                <a:solidFill>
                  <a:srgbClr val="1C1C1C"/>
                </a:solidFill>
                <a:latin typeface="Malgun Gothic"/>
              </a:defRPr>
            </a:pPr>
            <a:r>
              <a:t>파일 저장·관리 어려움</a:t>
            </a:r>
          </a:p>
          <a:p>
            <a:pPr>
              <a:spcAft>
                <a:spcPts val="500"/>
              </a:spcAft>
              <a:defRPr sz="1600">
                <a:solidFill>
                  <a:srgbClr val="1C1C1C"/>
                </a:solidFill>
                <a:latin typeface="Malgun Gothic"/>
              </a:defRPr>
            </a:pPr>
            <a:r>
              <a:t>사내 시스템 연결 제한</a:t>
            </a:r>
          </a:p>
          <a:p>
            <a:pPr>
              <a:spcAft>
                <a:spcPts val="500"/>
              </a:spcAft>
              <a:defRPr sz="1600">
                <a:solidFill>
                  <a:srgbClr val="1C1C1C"/>
                </a:solidFill>
                <a:latin typeface="Malgun Gothic"/>
              </a:defRPr>
            </a:pPr>
            <a:r>
              <a:t>작업 과정이 잘 안 보임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11480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Malgun Gothic"/>
              </a:rPr>
              <a:t>지능은 있음
업무 환경은 부족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문제는 지능 부족이 아니라, 업무 환경과 도구 연결의 부족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STRUCTURE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AI가 업무를 하려면: Harness 안의 LLM·Skill·MCP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4540" y="1714500"/>
            <a:ext cx="7863840" cy="342900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1691640"/>
            <a:ext cx="786384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1874519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Malgun Gothic"/>
              </a:rPr>
              <a:t>Harness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1779" y="2537460"/>
            <a:ext cx="1691640" cy="1143000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88920" y="2514600"/>
            <a:ext cx="1691640" cy="1143000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67919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Malgun Gothic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999232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5E5E"/>
                </a:solidFill>
                <a:latin typeface="Malgun Gothic"/>
              </a:rPr>
              <a:t>지능
판단·추론·작성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97780" y="2537460"/>
            <a:ext cx="1691640" cy="1143000"/>
          </a:xfrm>
          <a:prstGeom prst="rect">
            <a:avLst/>
          </a:prstGeom>
          <a:solidFill>
            <a:srgbClr val="FFF6D6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2514600"/>
            <a:ext cx="1691640" cy="1143000"/>
          </a:xfrm>
          <a:prstGeom prst="rect">
            <a:avLst/>
          </a:prstGeom>
          <a:solidFill>
            <a:srgbClr val="FFF6D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67919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Malgun Gothic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99232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5E5E"/>
                </a:solidFill>
                <a:latin typeface="Malgun Gothic"/>
              </a:rPr>
              <a:t>업무 지식
기준·절차·노하우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3780" y="2537460"/>
            <a:ext cx="1691640" cy="1143000"/>
          </a:xfrm>
          <a:prstGeom prst="rect">
            <a:avLst/>
          </a:prstGeom>
          <a:solidFill>
            <a:srgbClr val="F0EBF9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2514600"/>
            <a:ext cx="1691640" cy="1143000"/>
          </a:xfrm>
          <a:prstGeom prst="rect">
            <a:avLst/>
          </a:prstGeom>
          <a:solidFill>
            <a:srgbClr val="F0EBF9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67919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Malgun Gothic"/>
              </a:rPr>
              <a:t>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999232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5E5E"/>
                </a:solidFill>
                <a:latin typeface="Malgun Gothic"/>
              </a:rPr>
              <a:t>정보 접근
데이터·시스템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160520"/>
            <a:ext cx="5669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1C1C"/>
                </a:solidFill>
                <a:latin typeface="Malgun Gothic"/>
              </a:rPr>
              <a:t>Observe → Plan → Tool-use → Result → Revise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54680" y="4041648"/>
            <a:ext cx="54864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331720" y="4663440"/>
            <a:ext cx="1051560" cy="25603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4713731"/>
            <a:ext cx="905255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1C1C"/>
                </a:solidFill>
                <a:latin typeface="Malgun Gothic"/>
              </a:rPr>
              <a:t>UI/UX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4663440"/>
            <a:ext cx="1051560" cy="25603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22191" y="4713731"/>
            <a:ext cx="905255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1C1C"/>
                </a:solidFill>
                <a:latin typeface="Malgun Gothic"/>
              </a:rPr>
              <a:t>작업 기록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0" y="4663440"/>
            <a:ext cx="1051560" cy="25603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9512" y="4713731"/>
            <a:ext cx="905255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1C1C"/>
                </a:solidFill>
                <a:latin typeface="Malgun Gothic"/>
              </a:rPr>
              <a:t>파일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663440"/>
            <a:ext cx="1051560" cy="25603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4713731"/>
            <a:ext cx="905255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1C1C"/>
                </a:solidFill>
                <a:latin typeface="Malgun Gothic"/>
              </a:rPr>
              <a:t>Preview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4663440"/>
            <a:ext cx="1051560" cy="25603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4152" y="4713731"/>
            <a:ext cx="905255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1C1C"/>
                </a:solidFill>
                <a:latin typeface="Malgun Gothic"/>
              </a:rPr>
              <a:t>공유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Harness는 세 요소를 실제 업무 환경으로 감싸는 실행 레이어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SKILL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Skill은 프롬프트가 아니라 업무 지식의 자산화</a:t>
            </a:r>
          </a:p>
        </p:txBody>
      </p:sp>
      <p:sp>
        <p:nvSpPr>
          <p:cNvPr id="5" name="Oval 4"/>
          <p:cNvSpPr/>
          <p:nvPr/>
        </p:nvSpPr>
        <p:spPr>
          <a:xfrm>
            <a:off x="1124712" y="1874519"/>
            <a:ext cx="25603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52728" y="2130552"/>
            <a:ext cx="0" cy="502920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41832" y="2286000"/>
            <a:ext cx="310896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52728" y="2286000"/>
            <a:ext cx="310896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14983" y="2633472"/>
            <a:ext cx="237745" cy="320039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2728" y="2633472"/>
            <a:ext cx="237744" cy="320039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990087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똑똑한 신입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Malgun Gothic"/>
              </a:rPr>
              <a:t>머리는 좋은데...
우리 회사 방식은
아직 모름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2926080"/>
            <a:ext cx="960119" cy="0"/>
          </a:xfrm>
          <a:prstGeom prst="line">
            <a:avLst/>
          </a:prstGeom>
          <a:ln w="228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09060" y="1760219"/>
            <a:ext cx="2148840" cy="2423160"/>
          </a:xfrm>
          <a:prstGeom prst="rect">
            <a:avLst/>
          </a:prstGeom>
          <a:solidFill>
            <a:srgbClr val="FFF6D6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1737360"/>
            <a:ext cx="2148840" cy="2423160"/>
          </a:xfrm>
          <a:prstGeom prst="rect">
            <a:avLst/>
          </a:prstGeom>
          <a:solidFill>
            <a:srgbClr val="FFF6D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96596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Malgun Gothic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514600"/>
            <a:ext cx="14173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보고서 형식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판단 기준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예외 처리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검토 포인트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업무 절차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0" y="2926080"/>
            <a:ext cx="1005840" cy="0"/>
          </a:xfrm>
          <a:prstGeom prst="line">
            <a:avLst/>
          </a:prstGeom>
          <a:ln w="228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566660" y="1760219"/>
            <a:ext cx="3017520" cy="2423160"/>
          </a:xfrm>
          <a:prstGeom prst="rect">
            <a:avLst/>
          </a:prstGeom>
          <a:solidFill>
            <a:srgbClr val="E5F4EE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1737360"/>
            <a:ext cx="3017520" cy="2423160"/>
          </a:xfrm>
          <a:prstGeom prst="rect">
            <a:avLst/>
          </a:prstGeom>
          <a:solidFill>
            <a:srgbClr val="E5F4EE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19659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C1C1C"/>
                </a:solidFill>
                <a:latin typeface="Malgun Gothic"/>
              </a:rPr>
              <a:t>조직 업무 자산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7432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E5E5E"/>
                </a:solidFill>
                <a:latin typeface="Malgun Gothic"/>
              </a:rPr>
              <a:t>만들기 → 사용 → 점검 → 테스트 → 수정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200400"/>
            <a:ext cx="2286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1C1C"/>
                </a:solidFill>
                <a:latin typeface="Malgun Gothic"/>
              </a:defRPr>
            </a:pPr>
            <a:r>
              <a:t>MCP는 전문부서가 만들 수 있지만,</a:t>
            </a:r>
          </a:p>
          <a:p>
            <a:pPr>
              <a:spcAft>
                <a:spcPts val="500"/>
              </a:spcAft>
              <a:defRPr sz="1200">
                <a:solidFill>
                  <a:srgbClr val="1C1C1C"/>
                </a:solidFill>
                <a:latin typeface="Malgun Gothic"/>
              </a:defRPr>
            </a:pPr>
            <a:r>
              <a:t>Skill은 현업 지식이 있어야 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아무리 좋은 LLM이 나와도, 우리 회사 업무 지식은 Skill로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MCP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MCP는 AI가 사내 정보에 접근하는 통로</a:t>
            </a:r>
          </a:p>
        </p:txBody>
      </p:sp>
      <p:sp>
        <p:nvSpPr>
          <p:cNvPr id="5" name="Oval 4"/>
          <p:cNvSpPr/>
          <p:nvPr/>
        </p:nvSpPr>
        <p:spPr>
          <a:xfrm>
            <a:off x="1078992" y="2743200"/>
            <a:ext cx="25603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07008" y="2999232"/>
            <a:ext cx="0" cy="502920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96112" y="3154680"/>
            <a:ext cx="310896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07008" y="3154680"/>
            <a:ext cx="310896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9264" y="3502152"/>
            <a:ext cx="237744" cy="320039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07008" y="3502152"/>
            <a:ext cx="237744" cy="320039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85876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AI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038094"/>
            <a:ext cx="788669" cy="473201"/>
          </a:xfrm>
          <a:prstGeom prst="roundRect">
            <a:avLst/>
          </a:prstGeom>
          <a:solidFill>
            <a:srgbClr val="E8F0F8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1870" y="3143250"/>
            <a:ext cx="262890" cy="262890"/>
          </a:xfrm>
          <a:prstGeom prst="rect">
            <a:avLst/>
          </a:prstGeom>
          <a:solidFill>
            <a:srgbClr val="E8F0F8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7840" y="3164281"/>
            <a:ext cx="578358" cy="168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Malgun Gothic"/>
              </a:rPr>
              <a:t>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0332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Malgun Gothic"/>
              </a:rPr>
              <a:t>MCP
표준 연결·권한·보안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60620" y="1943100"/>
            <a:ext cx="1234440" cy="685800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1920240"/>
            <a:ext cx="1234440" cy="685800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214884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ECM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840480" y="2267712"/>
            <a:ext cx="1097280" cy="841248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652260" y="1943100"/>
            <a:ext cx="1234440" cy="685800"/>
          </a:xfrm>
          <a:prstGeom prst="rect">
            <a:avLst/>
          </a:prstGeom>
          <a:solidFill>
            <a:srgbClr val="FFF6D6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1920240"/>
            <a:ext cx="1234440" cy="685800"/>
          </a:xfrm>
          <a:prstGeom prst="rect">
            <a:avLst/>
          </a:prstGeom>
          <a:solidFill>
            <a:srgbClr val="FFF6D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214884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DataLake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840480" y="2267712"/>
            <a:ext cx="2788920" cy="841248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343900" y="1943100"/>
            <a:ext cx="1234440" cy="685800"/>
          </a:xfrm>
          <a:prstGeom prst="rect">
            <a:avLst/>
          </a:prstGeom>
          <a:solidFill>
            <a:srgbClr val="E5F4EE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1920240"/>
            <a:ext cx="1234440" cy="685800"/>
          </a:xfrm>
          <a:prstGeom prst="rect">
            <a:avLst/>
          </a:prstGeom>
          <a:solidFill>
            <a:srgbClr val="E5F4EE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14884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VectorDB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840480" y="2267712"/>
            <a:ext cx="4480560" cy="841248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960620" y="3223260"/>
            <a:ext cx="1234440" cy="685800"/>
          </a:xfrm>
          <a:prstGeom prst="rect">
            <a:avLst/>
          </a:prstGeom>
          <a:solidFill>
            <a:srgbClr val="F8E8EC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7760" y="3200400"/>
            <a:ext cx="1234440" cy="685800"/>
          </a:xfrm>
          <a:prstGeom prst="rect">
            <a:avLst/>
          </a:prstGeom>
          <a:solidFill>
            <a:srgbClr val="F8E8EC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342900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업무 시스템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40480" y="3108960"/>
            <a:ext cx="1097280" cy="438912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652260" y="3223260"/>
            <a:ext cx="1234440" cy="685800"/>
          </a:xfrm>
          <a:prstGeom prst="rect">
            <a:avLst/>
          </a:prstGeom>
          <a:solidFill>
            <a:srgbClr val="FCEEDE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9400" y="3200400"/>
            <a:ext cx="1234440" cy="685800"/>
          </a:xfrm>
          <a:prstGeom prst="rect">
            <a:avLst/>
          </a:prstGeom>
          <a:solidFill>
            <a:srgbClr val="FCEEDE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342900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API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40480" y="3108960"/>
            <a:ext cx="2788920" cy="438912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66760" y="411480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5E5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22452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E5E5E"/>
                </a:solidFill>
                <a:latin typeface="Malgun Gothic"/>
              </a:rPr>
              <a:t>Ontology는
개념 관계 지도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자료를 매번 첨부하는 방식에서, 필요한 정보를 안전하게 조회하는 방식으로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COMPARE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P-GPT는 채팅형 AI, MyHarness는 업무 실행형 AI 환경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325880" cy="41148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645920"/>
            <a:ext cx="3840480" cy="41148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2" y="1755648"/>
            <a:ext cx="36941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P-GPT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645920"/>
            <a:ext cx="4754880" cy="41148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62472" y="1755648"/>
            <a:ext cx="4608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MyHarness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132588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21992"/>
            <a:ext cx="1179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성격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057400"/>
            <a:ext cx="3840480" cy="566928"/>
          </a:xfrm>
          <a:prstGeom prst="rect">
            <a:avLst/>
          </a:prstGeom>
          <a:solidFill>
            <a:srgbClr val="E8F0F8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2" y="2221992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AI 채팅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057400"/>
            <a:ext cx="4754880" cy="566928"/>
          </a:xfrm>
          <a:prstGeom prst="rect">
            <a:avLst/>
          </a:prstGeom>
          <a:solidFill>
            <a:srgbClr val="E5F4EE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2221992"/>
            <a:ext cx="4608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Agent 업무 환경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624328"/>
            <a:ext cx="132588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788920"/>
            <a:ext cx="1179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업무 지식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624328"/>
            <a:ext cx="3840480" cy="566928"/>
          </a:xfrm>
          <a:prstGeom prst="rect">
            <a:avLst/>
          </a:prstGeom>
          <a:solidFill>
            <a:srgbClr val="E8F0F8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1992" y="2788920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나의 GPT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624328"/>
            <a:ext cx="4754880" cy="566928"/>
          </a:xfrm>
          <a:prstGeom prst="rect">
            <a:avLst/>
          </a:prstGeom>
          <a:solidFill>
            <a:srgbClr val="E5F4EE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2788920"/>
            <a:ext cx="4608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Skill·routing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191256"/>
            <a:ext cx="132588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355848"/>
            <a:ext cx="1179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정보 접근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191256"/>
            <a:ext cx="3840480" cy="566928"/>
          </a:xfrm>
          <a:prstGeom prst="rect">
            <a:avLst/>
          </a:prstGeom>
          <a:solidFill>
            <a:srgbClr val="E8F0F8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1992" y="3355848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검색 클릭·첨부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191256"/>
            <a:ext cx="4754880" cy="566928"/>
          </a:xfrm>
          <a:prstGeom prst="rect">
            <a:avLst/>
          </a:prstGeom>
          <a:solidFill>
            <a:srgbClr val="E5F4EE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3355848"/>
            <a:ext cx="4608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검색·MCP 도구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758183"/>
            <a:ext cx="132588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922775"/>
            <a:ext cx="1179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작동 방식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3758183"/>
            <a:ext cx="3840480" cy="566928"/>
          </a:xfrm>
          <a:prstGeom prst="rect">
            <a:avLst/>
          </a:prstGeom>
          <a:solidFill>
            <a:srgbClr val="E8F0F8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21992" y="3922775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질문 후 답변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758183"/>
            <a:ext cx="4754880" cy="566928"/>
          </a:xfrm>
          <a:prstGeom prst="rect">
            <a:avLst/>
          </a:prstGeom>
          <a:solidFill>
            <a:srgbClr val="E5F4EE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62472" y="3922775"/>
            <a:ext cx="4608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Tool-use closed loop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325112"/>
            <a:ext cx="132588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489704"/>
            <a:ext cx="1179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산출물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4325112"/>
            <a:ext cx="3840480" cy="566928"/>
          </a:xfrm>
          <a:prstGeom prst="rect">
            <a:avLst/>
          </a:prstGeom>
          <a:solidFill>
            <a:srgbClr val="E8F0F8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21992" y="4489704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대화창 출력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4325112"/>
            <a:ext cx="4754880" cy="566928"/>
          </a:xfrm>
          <a:prstGeom prst="rect">
            <a:avLst/>
          </a:prstGeom>
          <a:solidFill>
            <a:srgbClr val="E5F4EE"/>
          </a:solidFill>
          <a:ln w="1016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2472" y="4489704"/>
            <a:ext cx="4608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C1C1C"/>
                </a:solidFill>
                <a:latin typeface="Malgun Gothic"/>
              </a:rPr>
              <a:t>파일·Preview·수정·공유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074920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E5E5E"/>
                </a:solidFill>
                <a:latin typeface="Malgun Gothic"/>
              </a:rPr>
              <a:t>P-GPT: 말은 잘함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074920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Malgun Gothic"/>
              </a:rPr>
              <a:t>MyHarness: 일도 시킴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차이는 답변을 받는 AI와 업무 결과물을 만드는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UX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대화, 작업 과정, 산출물이 한 화면에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1623060"/>
            <a:ext cx="2057400" cy="3886200"/>
          </a:xfrm>
          <a:prstGeom prst="rect">
            <a:avLst/>
          </a:prstGeom>
          <a:solidFill>
            <a:srgbClr val="F5F5F5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2057400" cy="3886200"/>
          </a:xfrm>
          <a:prstGeom prst="rect">
            <a:avLst/>
          </a:prstGeom>
          <a:solidFill>
            <a:srgbClr val="F5F5F5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C1C1C"/>
                </a:solidFill>
                <a:latin typeface="Malgun Gothic"/>
              </a:rPr>
              <a:t>워크스페이스
히스토리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6100" y="1623060"/>
            <a:ext cx="4023360" cy="3886200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63240" y="1600200"/>
            <a:ext cx="4023360" cy="3886200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1C1C"/>
                </a:solidFill>
                <a:latin typeface="Malgun Gothic"/>
              </a:rPr>
              <a:t>대화·작업 지시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423160"/>
            <a:ext cx="32004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사용자: 보고서 작성해줘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AI: 자료 확인 중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AI: Preview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8060" y="1623060"/>
            <a:ext cx="3840480" cy="3886200"/>
          </a:xfrm>
          <a:prstGeom prst="rect">
            <a:avLst/>
          </a:prstGeom>
          <a:solidFill>
            <a:srgbClr val="E5F4EE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600200"/>
            <a:ext cx="3840480" cy="3886200"/>
          </a:xfrm>
          <a:prstGeom prst="rect">
            <a:avLst/>
          </a:prstGeom>
          <a:solidFill>
            <a:srgbClr val="E5F4EE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1C1C"/>
                </a:solidFill>
                <a:latin typeface="Malgun Gothic"/>
              </a:rPr>
              <a:t>산출물 Preview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20" y="2628900"/>
            <a:ext cx="749808" cy="932688"/>
          </a:xfrm>
          <a:prstGeom prst="rect">
            <a:avLst/>
          </a:prstGeom>
          <a:solidFill>
            <a:srgbClr val="FFF6D6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2606040"/>
            <a:ext cx="749808" cy="932688"/>
          </a:xfrm>
          <a:prstGeom prst="rect">
            <a:avLst/>
          </a:prstGeom>
          <a:solidFill>
            <a:srgbClr val="FFF6D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970264" y="2898648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70264" y="3081528"/>
            <a:ext cx="420624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97112" y="330098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06940" y="2857500"/>
            <a:ext cx="749808" cy="932688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2834640"/>
            <a:ext cx="749808" cy="932688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930384" y="3127248"/>
            <a:ext cx="457200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30384" y="3310128"/>
            <a:ext cx="420623" cy="0"/>
          </a:xfrm>
          <a:prstGeom prst="line">
            <a:avLst/>
          </a:prstGeom>
          <a:ln w="101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57232" y="352958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800600"/>
            <a:ext cx="2011680" cy="274320"/>
          </a:xfrm>
          <a:prstGeom prst="roundRect">
            <a:avLst/>
          </a:prstGeom>
          <a:solidFill>
            <a:srgbClr val="FCEEDE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2" y="4850892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C1C1C"/>
                </a:solidFill>
                <a:latin typeface="Malgun Gothic"/>
              </a:rPr>
              <a:t>Tool-use Timeline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89204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Malgun Gothic"/>
              </a:rPr>
              <a:t>AI가 뭘 하는지 보여야 믿고 맡긴다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UI/UX는 Harness의 부가 기능이 아니라 핵심 표면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CASE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Agentic Coding이 만든 개발 속도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57400"/>
            <a:ext cx="292608" cy="292608"/>
          </a:xfrm>
          <a:prstGeom prst="ellipse">
            <a:avLst/>
          </a:prstGeom>
          <a:solidFill>
            <a:srgbClr val="1C1C1C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514600"/>
            <a:ext cx="1143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4/26 시작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24712" y="2203704"/>
            <a:ext cx="1527048" cy="0"/>
          </a:xfrm>
          <a:prstGeom prst="line">
            <a:avLst/>
          </a:prstGeom>
          <a:ln w="1905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71800" y="2057400"/>
            <a:ext cx="292608" cy="292608"/>
          </a:xfrm>
          <a:prstGeom prst="ellipse">
            <a:avLst/>
          </a:prstGeom>
          <a:solidFill>
            <a:srgbClr val="1C1C1C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514600"/>
            <a:ext cx="1143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3일 후 Prototype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73552" y="2203704"/>
            <a:ext cx="1527048" cy="0"/>
          </a:xfrm>
          <a:prstGeom prst="line">
            <a:avLst/>
          </a:prstGeom>
          <a:ln w="1905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120640" y="2057400"/>
            <a:ext cx="292608" cy="292608"/>
          </a:xfrm>
          <a:prstGeom prst="ellipse">
            <a:avLst/>
          </a:prstGeom>
          <a:solidFill>
            <a:srgbClr val="1C1C1C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1143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2주 집중 개발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22392" y="2203704"/>
            <a:ext cx="1527048" cy="0"/>
          </a:xfrm>
          <a:prstGeom prst="line">
            <a:avLst/>
          </a:prstGeom>
          <a:ln w="1905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269480" y="2057400"/>
            <a:ext cx="292608" cy="292608"/>
          </a:xfrm>
          <a:prstGeom prst="ellipse">
            <a:avLst/>
          </a:prstGeom>
          <a:solidFill>
            <a:srgbClr val="1C1C1C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514600"/>
            <a:ext cx="1143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실장님·본부장님 보고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2203704"/>
            <a:ext cx="1527048" cy="0"/>
          </a:xfrm>
          <a:prstGeom prst="line">
            <a:avLst/>
          </a:prstGeom>
          <a:ln w="1905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418320" y="2057400"/>
            <a:ext cx="292608" cy="292608"/>
          </a:xfrm>
          <a:prstGeom prst="ellipse">
            <a:avLst/>
          </a:prstGeom>
          <a:solidFill>
            <a:srgbClr val="1C1C1C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514600"/>
            <a:ext cx="1143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Malgun Gothic"/>
              </a:rPr>
              <a:t>1주일 뒤 사장님 보고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6459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E5E5E"/>
                </a:solidFill>
                <a:latin typeface="Malgun Gothic"/>
              </a:rPr>
              <a:t>MyHarness 실제 진행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749039"/>
            <a:ext cx="10332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E5E5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68496"/>
            <a:ext cx="9966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E5E5E"/>
                </a:solidFill>
                <a:latin typeface="Malgun Gothic"/>
              </a:rPr>
              <a:t>일반 절차: 문제 정의 → 요구사항 → 현업 협의 → 과제화 → 기본 설계 → 산정 → 예산 → 심의 → 계약 → 개발 → 테스트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663440"/>
            <a:ext cx="32004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현업 검증용 MVP/파일럿 수준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정식 운영 전 보안·안정성·다수 사용자 보완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정식 절차 무시가 아니라, 초기 검증 속도를 완전히 바꾸는 사례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MISSION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사장님 특명: 영업이익 변동 원인 추적 Agent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914400" y="3108960"/>
            <a:ext cx="914400" cy="731520"/>
          </a:xfrm>
          <a:prstGeom prst="line">
            <a:avLst/>
          </a:prstGeom>
          <a:ln w="254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3108960"/>
            <a:ext cx="914400" cy="548640"/>
          </a:xfrm>
          <a:prstGeom prst="line">
            <a:avLst/>
          </a:prstGeom>
          <a:ln w="254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743200" y="2468880"/>
            <a:ext cx="914400" cy="1188720"/>
          </a:xfrm>
          <a:prstGeom prst="line">
            <a:avLst/>
          </a:prstGeom>
          <a:ln w="254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2468880"/>
            <a:ext cx="914400" cy="502920"/>
          </a:xfrm>
          <a:prstGeom prst="line">
            <a:avLst/>
          </a:prstGeom>
          <a:ln w="254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4440" y="21488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Malgun Gothic"/>
              </a:rPr>
              <a:t>영업이익 변동</a:t>
            </a:r>
          </a:p>
        </p:txBody>
      </p:sp>
      <p:sp>
        <p:nvSpPr>
          <p:cNvPr id="10" name="Oval 9"/>
          <p:cNvSpPr/>
          <p:nvPr/>
        </p:nvSpPr>
        <p:spPr>
          <a:xfrm>
            <a:off x="5285232" y="2331720"/>
            <a:ext cx="25603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13248" y="2587752"/>
            <a:ext cx="0" cy="502920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102352" y="2743200"/>
            <a:ext cx="310896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13248" y="2743200"/>
            <a:ext cx="310896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175504" y="3090672"/>
            <a:ext cx="237744" cy="320039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13248" y="3090672"/>
            <a:ext cx="237744" cy="320039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46320" y="3447287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분석 Agent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669280" y="2560320"/>
            <a:ext cx="685800" cy="411480"/>
          </a:xfrm>
          <a:prstGeom prst="line">
            <a:avLst/>
          </a:prstGeom>
          <a:ln w="1905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09360" y="2240280"/>
            <a:ext cx="502920" cy="5029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8060" y="1851660"/>
            <a:ext cx="3200400" cy="502920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828800"/>
            <a:ext cx="3200400" cy="502920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1975104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Malgun Gothic"/>
              </a:rPr>
              <a:t>DataLake → Ontology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8060" y="2628900"/>
            <a:ext cx="3200400" cy="502920"/>
          </a:xfrm>
          <a:prstGeom prst="rect">
            <a:avLst/>
          </a:prstGeom>
          <a:solidFill>
            <a:srgbClr val="F0EBF9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2606040"/>
            <a:ext cx="3200400" cy="502920"/>
          </a:xfrm>
          <a:prstGeom prst="rect">
            <a:avLst/>
          </a:prstGeom>
          <a:solidFill>
            <a:srgbClr val="F0EBF9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2752344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Malgun Gothic"/>
              </a:rPr>
              <a:t>자연어 질의 → MCP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8060" y="3406140"/>
            <a:ext cx="3200400" cy="502920"/>
          </a:xfrm>
          <a:prstGeom prst="rect">
            <a:avLst/>
          </a:prstGeom>
          <a:solidFill>
            <a:srgbClr val="FFF6D6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3383280"/>
            <a:ext cx="3200400" cy="502920"/>
          </a:xfrm>
          <a:prstGeom prst="rect">
            <a:avLst/>
          </a:prstGeom>
          <a:solidFill>
            <a:srgbClr val="FFF6D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3529584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Malgun Gothic"/>
              </a:rPr>
              <a:t>원가분석 지식 →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5720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결과: 원인 분석 메모 · 데이터 근거 · 보고서 초안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사내 데이터와 업무 지식을 연결한 경영 분석 Agent로 간다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CHANGE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사람이 다 하는 업무에서, AI와 함께 굴리는 업무로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4389120" cy="2651760"/>
          </a:xfrm>
          <a:prstGeom prst="rect">
            <a:avLst/>
          </a:prstGeom>
          <a:solidFill>
            <a:srgbClr val="F8E8EC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Malgun Gothic"/>
              </a:rPr>
              <a:t>Before</a:t>
            </a:r>
          </a:p>
        </p:txBody>
      </p:sp>
      <p:sp>
        <p:nvSpPr>
          <p:cNvPr id="7" name="Oval 6"/>
          <p:cNvSpPr/>
          <p:nvPr/>
        </p:nvSpPr>
        <p:spPr>
          <a:xfrm>
            <a:off x="1536192" y="2834640"/>
            <a:ext cx="25603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664207" y="3090672"/>
            <a:ext cx="0" cy="502920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353312" y="3246120"/>
            <a:ext cx="310895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64207" y="3246120"/>
            <a:ext cx="310897" cy="155448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426463" y="3593592"/>
            <a:ext cx="237744" cy="320040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64207" y="3593592"/>
            <a:ext cx="237745" cy="320040"/>
          </a:xfrm>
          <a:prstGeom prst="line">
            <a:avLst/>
          </a:prstGeom>
          <a:ln w="1524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92807" y="28529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하...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5020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E5E5E"/>
                </a:solidFill>
                <a:latin typeface="Malgun Gothic"/>
              </a:rPr>
              <a:t>직접 처리자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14600"/>
            <a:ext cx="173736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자료 수집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정리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분석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초안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수정</a:t>
            </a:r>
          </a:p>
          <a:p>
            <a:pPr>
              <a:spcAft>
                <a:spcPts val="500"/>
              </a:spcAft>
              <a:defRPr sz="1300">
                <a:solidFill>
                  <a:srgbClr val="1C1C1C"/>
                </a:solidFill>
                <a:latin typeface="Malgun Gothic"/>
              </a:defRPr>
            </a:pPr>
            <a:r>
              <a:t>보고서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77840" y="3154680"/>
            <a:ext cx="914400" cy="0"/>
          </a:xfrm>
          <a:prstGeom prst="line">
            <a:avLst/>
          </a:prstGeom>
          <a:ln w="2286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12280" y="1828800"/>
            <a:ext cx="4389120" cy="2651760"/>
          </a:xfrm>
          <a:prstGeom prst="rect">
            <a:avLst/>
          </a:prstGeom>
          <a:solidFill>
            <a:srgbClr val="E5F4EE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0574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Malgun Gothic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06040"/>
            <a:ext cx="3200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사람: 목표·기준·검토·책임</a:t>
            </a:r>
          </a:p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AI: 초안·반복 작업 수행</a:t>
            </a:r>
          </a:p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Skill: 현업 지식 축적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98348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Malgun Gothic"/>
              </a:rPr>
              <a:t>직접 처리자 → 업무 설계자·검토자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AX는 도구 도입만이 아니라 업무 방식의 변화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E5E5E"/>
                </a:solidFill>
                <a:latin typeface="Malgun Gothic"/>
              </a:rPr>
              <a:t>CLOSING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621792"/>
            <a:ext cx="457200" cy="0"/>
          </a:xfrm>
          <a:prstGeom prst="line">
            <a:avLst/>
          </a:prstGeom>
          <a:ln w="127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7132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Malgun Gothic"/>
              </a:rPr>
              <a:t>AX는 모델 구매가 아니라, 업무 실행 체계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3268979" y="1668780"/>
            <a:ext cx="5212080" cy="315468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1645920"/>
            <a:ext cx="521208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874519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C1C1C"/>
                </a:solidFill>
                <a:latin typeface="Malgun Gothic"/>
              </a:rPr>
              <a:t>Harness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0460" y="2583179"/>
            <a:ext cx="1143000" cy="822960"/>
          </a:xfrm>
          <a:prstGeom prst="rect">
            <a:avLst/>
          </a:prstGeom>
          <a:solidFill>
            <a:srgbClr val="E8F0F8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2560320"/>
            <a:ext cx="1143000" cy="822960"/>
          </a:xfrm>
          <a:prstGeom prst="rect">
            <a:avLst/>
          </a:prstGeom>
          <a:solidFill>
            <a:srgbClr val="E8F0F8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7889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Malgun Gothic"/>
              </a:rPr>
              <a:t>LLM
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9220" y="2583179"/>
            <a:ext cx="1143000" cy="822960"/>
          </a:xfrm>
          <a:prstGeom prst="rect">
            <a:avLst/>
          </a:prstGeom>
          <a:solidFill>
            <a:srgbClr val="FFF6D6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66360" y="2560320"/>
            <a:ext cx="1143000" cy="822960"/>
          </a:xfrm>
          <a:prstGeom prst="rect">
            <a:avLst/>
          </a:prstGeom>
          <a:solidFill>
            <a:srgbClr val="FFF6D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27889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Malgun Gothic"/>
              </a:rPr>
              <a:t>Skill
업무 지식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7980" y="2583179"/>
            <a:ext cx="1143000" cy="822960"/>
          </a:xfrm>
          <a:prstGeom prst="rect">
            <a:avLst/>
          </a:prstGeom>
          <a:solidFill>
            <a:srgbClr val="F0EBF9"/>
          </a:solidFill>
          <a:ln w="889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2560320"/>
            <a:ext cx="1143000" cy="822960"/>
          </a:xfrm>
          <a:prstGeom prst="rect">
            <a:avLst/>
          </a:prstGeom>
          <a:solidFill>
            <a:srgbClr val="F0EBF9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278892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Malgun Gothic"/>
              </a:rPr>
              <a:t>MCP
정보 접근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977639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E5E5E"/>
                </a:solidFill>
                <a:latin typeface="Malgun Gothic"/>
              </a:rPr>
              <a:t>Closed Loop: 보고 · 도구 사용 · 결과 확인 · 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874519"/>
            <a:ext cx="22402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1. 업무 지식을 Skill로 축적</a:t>
            </a:r>
          </a:p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2. 사내 데이터와 시스템을 MCP로 연결</a:t>
            </a:r>
          </a:p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3. Harness로 실행 환경 고도화</a:t>
            </a:r>
          </a:p>
          <a:p>
            <a:pPr>
              <a:spcAft>
                <a:spcPts val="500"/>
              </a:spcAft>
              <a:defRPr sz="1400">
                <a:solidFill>
                  <a:srgbClr val="1C1C1C"/>
                </a:solidFill>
                <a:latin typeface="Malgun Gothic"/>
              </a:defRPr>
            </a:pPr>
            <a:r>
              <a:t>4. 사람은 목표·검토·책임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084831"/>
            <a:ext cx="2743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Malgun Gothic"/>
              </a:rPr>
              <a:t>미래 LLM이 더 좋아져도
우리 업무의 Skill·MCP는
계속 필요하다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230368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C1C1C"/>
                </a:solidFill>
                <a:latin typeface="Malgun Gothic"/>
              </a:rPr>
              <a:t>AI를 도입하는 것에서,
AI와 함께 일하는 방식으로.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solidFill>
            <a:srgbClr val="FFF6D6"/>
          </a:solidFill>
          <a:ln w="1524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Malgun Gothic"/>
              </a:rPr>
              <a:t>MyHarness는 직원들이 회사 도메인 지식을 Skill로 만들고 검증하는 플랫폼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